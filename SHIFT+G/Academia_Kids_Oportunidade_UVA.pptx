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Unidades</c:v>
                </c:pt>
              </c:strCache>
            </c:strRef>
          </c:tx>
          <c:spPr>
            <a:solidFill>
              <a:srgbClr val="10B5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A1F3D"/>
                    </a:solidFill>
                    <a:latin typeface="Trebuchet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5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6A3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2019</c:v>
                  </c:pt>
                  <c:pt idx="1">
                    <c:v>2024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A1F3D"/>
                  </a:solidFill>
                  <a:latin typeface="Trebuchet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A70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US$ bi</c:v>
                </c:pt>
              </c:strCache>
            </c:strRef>
          </c:tx>
          <c:spPr>
            <a:solidFill>
              <a:srgbClr val="10B5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1A1F3D"/>
                    </a:solidFill>
                    <a:latin typeface="Trebuchet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5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6A3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2023</c:v>
                  </c:pt>
                  <c:pt idx="1">
                    <c:v>2030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7.98</c:v>
                </c:pt>
                <c:pt idx="1">
                  <c:v>12.4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500" u="none">
                  <a:solidFill>
                    <a:srgbClr val="1A1F3D"/>
                  </a:solidFill>
                  <a:latin typeface="Trebuchet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A70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FF6A3D">
              <a:alpha val="8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2926080" cy="2926080"/>
          </a:xfrm>
          <a:prstGeom prst="ellipse">
            <a:avLst/>
          </a:prstGeom>
          <a:solidFill>
            <a:srgbClr val="10B5A0">
              <a:alpha val="7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754880"/>
            <a:ext cx="2926080" cy="2926080"/>
          </a:xfrm>
          <a:prstGeom prst="ellipse">
            <a:avLst/>
          </a:prstGeom>
          <a:solidFill>
            <a:srgbClr val="6C5CE7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FF6A3D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8778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8412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AB2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ARS PARTICIPAÇÕES  ×  SHIFT+G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2402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ACADEMIA KIDS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658368" y="3383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CF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oportunidade que </a:t>
            </a:r>
            <a:pPr indent="0" marL="0">
              <a:buNone/>
            </a:pPr>
            <a:r>
              <a:rPr lang="en-US" sz="2600" b="1" dirty="0">
                <a:solidFill>
                  <a:srgbClr val="F5B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União da Vitória</a:t>
            </a:r>
            <a:pPr indent="0" marL="0">
              <a:buNone/>
            </a:pPr>
            <a:r>
              <a:rPr lang="en-US" sz="2600" dirty="0">
                <a:solidFill>
                  <a:srgbClr val="C9CF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ainda não viu.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58368" y="4160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Viabilidade · Oportunidade de mercado · Os números · As vantagens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5800" y="5989320"/>
            <a:ext cx="2011680" cy="0"/>
          </a:xfrm>
          <a:prstGeom prst="line">
            <a:avLst/>
          </a:prstGeom>
          <a:noFill/>
          <a:ln w="38100">
            <a:solidFill>
              <a:srgbClr val="FF6A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Pioneirismo regional em fitness infantil gamificado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VIRADA DE CHAVE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Não é uma academia. É a 1ª experiência</a:t>
            </a:r>
            <a:endParaRPr lang="en-US" sz="29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fitness gamificada da região.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adulto está saturado. 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infantil está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praticamente vazio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 é onde os pais mais querem investir.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58368" y="3429000"/>
            <a:ext cx="566928" cy="566928"/>
          </a:xfrm>
          <a:prstGeom prst="ellipse">
            <a:avLst/>
          </a:prstGeom>
          <a:solidFill>
            <a:srgbClr val="FF6A3D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769" y="357640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39242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não “malha” — ela joga, sobe de nível e quer voltar.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58368" y="4297680"/>
            <a:ext cx="566928" cy="566928"/>
          </a:xfrm>
          <a:prstGeom prst="ellipse">
            <a:avLst/>
          </a:prstGeom>
          <a:solidFill>
            <a:srgbClr val="10B5A0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69" y="4445081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426110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 não compra exercício — compra saúde, segurança e futuro do filho.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58368" y="5166360"/>
            <a:ext cx="566928" cy="566928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69" y="5313761"/>
            <a:ext cx="272125" cy="2721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512978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 pequena + conceito inédito = boca a boca e fila de matrícula.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766560" y="2194560"/>
            <a:ext cx="4754880" cy="4069080"/>
          </a:xfrm>
          <a:prstGeom prst="roundRect">
            <a:avLst>
              <a:gd name="adj" fmla="val 2697"/>
            </a:avLst>
          </a:prstGeom>
          <a:solidFill>
            <a:srgbClr val="12173A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10058400" y="1828800"/>
            <a:ext cx="1828800" cy="1828800"/>
          </a:xfrm>
          <a:prstGeom prst="ellipse">
            <a:avLst/>
          </a:prstGeom>
          <a:solidFill>
            <a:srgbClr val="FF6A3D">
              <a:alpha val="75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7178040" y="2697480"/>
            <a:ext cx="960120" cy="960120"/>
          </a:xfrm>
          <a:prstGeom prst="ellipse">
            <a:avLst/>
          </a:prstGeom>
          <a:solidFill>
            <a:srgbClr val="FF6A3D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7671" y="2947111"/>
            <a:ext cx="460858" cy="46085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78040" y="3840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5B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“EXERCÍCIO” PARA “JOGO”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178040" y="425196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7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Missões, avatar que evolui, medalhas e ranking saudável da turma.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7D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dos pais acompanhando cada conquista em tempo real.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0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EXISTE DEMANDA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Uma geração parada — e pais desesperados por solução.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número abaixo é uma família procurando exatamente o que essa academia vai oferecer.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FE7DE"/>
          </a:solidFill>
          <a:ln w="12700">
            <a:solidFill>
              <a:srgbClr val="E6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734056"/>
            <a:ext cx="475488" cy="82296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807208"/>
            <a:ext cx="3008376" cy="1493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6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33,5%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14400" y="4240987"/>
            <a:ext cx="30083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crianças de 5 a 9 anos no Brasil já têm excesso de peso (IBGE).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42316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CEFD3"/>
          </a:solidFill>
          <a:ln w="12700">
            <a:solidFill>
              <a:srgbClr val="E6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2734056"/>
            <a:ext cx="475488" cy="82296"/>
          </a:xfrm>
          <a:prstGeom prst="rect">
            <a:avLst/>
          </a:prstGeom>
          <a:solidFill>
            <a:srgbClr val="F5B43C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807208"/>
            <a:ext cx="3008376" cy="1493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5B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617720" y="4240987"/>
            <a:ext cx="30083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crianças não fazem nem 1 hora de atividade física por dia (OMS).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242316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E7E4FB"/>
          </a:solidFill>
          <a:ln w="12700">
            <a:solidFill>
              <a:srgbClr val="E6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39328" y="2734056"/>
            <a:ext cx="475488" cy="82296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5" name="Text 13"/>
          <p:cNvSpPr/>
          <p:nvPr/>
        </p:nvSpPr>
        <p:spPr>
          <a:xfrm>
            <a:off x="8302752" y="2807208"/>
            <a:ext cx="3008376" cy="1493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43% → 18%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8321040" y="4240987"/>
            <a:ext cx="30083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dos escolares ativos no Brasil entre 2009 e 2019. O sedentarismo disparou.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0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SETOR ESTÁ EM ALTA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Brasil é potência fitness — e ainda está acelerando.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DCF5F1"/>
          </a:solidFill>
          <a:ln w="12700">
            <a:solidFill>
              <a:srgbClr val="E6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560320"/>
            <a:ext cx="457200" cy="82296"/>
          </a:xfrm>
          <a:prstGeom prst="rect">
            <a:avLst/>
          </a:prstGeom>
          <a:solidFill>
            <a:srgbClr val="10B5A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51760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0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2º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32688" y="3419856"/>
            <a:ext cx="2084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 com mais academias do mundo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206240"/>
            <a:ext cx="2651760" cy="1783080"/>
          </a:xfrm>
          <a:prstGeom prst="roundRect">
            <a:avLst>
              <a:gd name="adj" fmla="val 5128"/>
            </a:avLst>
          </a:prstGeom>
          <a:solidFill>
            <a:srgbClr val="FCEFD3"/>
          </a:solidFill>
          <a:ln w="12700">
            <a:solidFill>
              <a:srgbClr val="E6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32688" y="4480560"/>
            <a:ext cx="457200" cy="82296"/>
          </a:xfrm>
          <a:prstGeom prst="rect">
            <a:avLst/>
          </a:prstGeom>
          <a:solidFill>
            <a:srgbClr val="F5B43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572000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B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R$ 17 bi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32688" y="5340096"/>
            <a:ext cx="208483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anual do setor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20440" y="2286000"/>
            <a:ext cx="4114800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03320" y="2423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Academias no Brasil (mil unidades)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3611880" y="2788920"/>
          <a:ext cx="39319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7863840" y="2286000"/>
            <a:ext cx="3703320" cy="3703320"/>
          </a:xfrm>
          <a:prstGeom prst="roundRect">
            <a:avLst>
              <a:gd name="adj" fmla="val 2469"/>
            </a:avLst>
          </a:prstGeom>
          <a:solidFill>
            <a:srgbClr val="12173A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138160" y="2606040"/>
            <a:ext cx="640080" cy="640080"/>
          </a:xfrm>
          <a:prstGeom prst="ellipse">
            <a:avLst/>
          </a:prstGeom>
          <a:solidFill>
            <a:srgbClr val="FF6A3D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581" y="2772461"/>
            <a:ext cx="307238" cy="30723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915400" y="26060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+44%</a:t>
            </a:r>
            <a:endParaRPr lang="en-US" sz="3400" dirty="0"/>
          </a:p>
        </p:txBody>
      </p:sp>
      <p:sp>
        <p:nvSpPr>
          <p:cNvPr id="19" name="Text 15"/>
          <p:cNvSpPr/>
          <p:nvPr/>
        </p:nvSpPr>
        <p:spPr>
          <a:xfrm>
            <a:off x="8183880" y="3383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crescimento do setor entre 2019 e 2024.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8183880" y="4160520"/>
            <a:ext cx="3108960" cy="0"/>
          </a:xfrm>
          <a:prstGeom prst="line">
            <a:avLst/>
          </a:prstGeom>
          <a:noFill/>
          <a:ln w="12700">
            <a:solidFill>
              <a:srgbClr val="33406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915400" y="4297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B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+22%</a:t>
            </a:r>
            <a:endParaRPr lang="en-US" sz="3400" dirty="0"/>
          </a:p>
        </p:txBody>
      </p:sp>
      <p:sp>
        <p:nvSpPr>
          <p:cNvPr id="22" name="Shape 18"/>
          <p:cNvSpPr/>
          <p:nvPr/>
        </p:nvSpPr>
        <p:spPr>
          <a:xfrm>
            <a:off x="8138160" y="4297680"/>
            <a:ext cx="640080" cy="640080"/>
          </a:xfrm>
          <a:prstGeom prst="ellipse">
            <a:avLst/>
          </a:prstGeom>
          <a:solidFill>
            <a:srgbClr val="F5B43C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581" y="4464101"/>
            <a:ext cx="307238" cy="30723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183880" y="5074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alta adicional projetada para 2025.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0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ESPAÇO EM BRANCO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Todo mundo abre academia adulta. Quase ninguém faz a infantil.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F2F4FB"/>
          </a:solidFill>
          <a:ln w="12700">
            <a:solidFill>
              <a:srgbClr val="E6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651760"/>
            <a:ext cx="713232" cy="713232"/>
          </a:xfrm>
          <a:prstGeom prst="ellipse">
            <a:avLst/>
          </a:prstGeom>
          <a:solidFill>
            <a:srgbClr val="6A7088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560" y="2837200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HOJE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5204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kids ainda é raro no Brasil — poucas redes investiram.</a:t>
            </a:r>
            <a:endParaRPr lang="en-US" sz="15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maioria das cidades do interior, a oferta é simplesmente zero.</a:t>
            </a:r>
            <a:endParaRPr lang="en-US" sz="15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chega primeiro define o padrão da região.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217920" y="233172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12173A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651760"/>
            <a:ext cx="713232" cy="713232"/>
          </a:xfrm>
          <a:prstGeom prst="ellipse">
            <a:avLst/>
          </a:prstGeom>
          <a:solidFill>
            <a:srgbClr val="10B5A0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400" y="2837200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697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352044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DC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 cada vez mais preocupados com saúde, telas e sedentarismo.</a:t>
            </a:r>
            <a:endParaRPr lang="en-US" sz="15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DC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Disposição a pagar por algo que cuide e desenvolva o filho.</a:t>
            </a:r>
            <a:endParaRPr lang="en-US" sz="1550" dirty="0"/>
          </a:p>
          <a:p>
            <a:pPr marL="203200" indent="-2032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DCE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kids aumenta matrículas: os pais voltam a treinar também.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0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TAMANHO DO MERCADO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dinheiro está migrando para o fitness infantil — e para a tecnologia.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85216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Mercado global de academias infantis (US$ bi)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2880360"/>
          <a:ext cx="55778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720840" y="2331720"/>
            <a:ext cx="4846320" cy="1783080"/>
          </a:xfrm>
          <a:prstGeom prst="roundRect">
            <a:avLst>
              <a:gd name="adj" fmla="val 5128"/>
            </a:avLst>
          </a:prstGeom>
          <a:solidFill>
            <a:srgbClr val="DCF5F1"/>
          </a:solidFill>
          <a:ln w="12700">
            <a:solidFill>
              <a:srgbClr val="E6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013448" y="2606040"/>
            <a:ext cx="457200" cy="82296"/>
          </a:xfrm>
          <a:prstGeom prst="rect">
            <a:avLst/>
          </a:prstGeom>
          <a:solidFill>
            <a:srgbClr val="10B5A0"/>
          </a:solidFill>
          <a:ln/>
        </p:spPr>
      </p:sp>
      <p:sp>
        <p:nvSpPr>
          <p:cNvPr id="9" name="Text 6"/>
          <p:cNvSpPr/>
          <p:nvPr/>
        </p:nvSpPr>
        <p:spPr>
          <a:xfrm>
            <a:off x="6995160" y="2697480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0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+6,5% a.a.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013448" y="3465576"/>
            <a:ext cx="427939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do mercado de academias infantis até 2030.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720840" y="429768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12173A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995160" y="4617720"/>
            <a:ext cx="658368" cy="658368"/>
          </a:xfrm>
          <a:prstGeom prst="ellipse">
            <a:avLst/>
          </a:prstGeom>
          <a:solidFill>
            <a:srgbClr val="FF6A3D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6336" y="4788896"/>
            <a:ext cx="316017" cy="31601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18120" y="45720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B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+18,4% a.a.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6995160" y="53492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C9C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crescimento dos apps de saúde e fitness para crianças — onde a Shift+G entra.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0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840480" cy="3840480"/>
          </a:xfrm>
          <a:prstGeom prst="ellipse">
            <a:avLst/>
          </a:prstGeom>
          <a:solidFill>
            <a:srgbClr val="10B5A0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AQUI, NA NOSSA REGIÃO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União da Vitória + Porto União: um mercado pronto e sem concorrência.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3456432" cy="3200400"/>
          </a:xfrm>
          <a:prstGeom prst="roundRect">
            <a:avLst>
              <a:gd name="adj" fmla="val 3429"/>
            </a:avLst>
          </a:prstGeom>
          <a:solidFill>
            <a:srgbClr val="1E2766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788920"/>
            <a:ext cx="457200" cy="82296"/>
          </a:xfrm>
          <a:prstGeom prst="rect">
            <a:avLst/>
          </a:prstGeom>
          <a:solidFill>
            <a:srgbClr val="FF6A3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803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6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~90 mil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32688" y="40690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2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habitantes nas cidades gêmeas — um polo regional que atrai do entorno.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70832" y="2468880"/>
            <a:ext cx="3456432" cy="3200400"/>
          </a:xfrm>
          <a:prstGeom prst="roundRect">
            <a:avLst>
              <a:gd name="adj" fmla="val 3429"/>
            </a:avLst>
          </a:prstGeom>
          <a:solidFill>
            <a:srgbClr val="1E2766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788920"/>
            <a:ext cx="457200" cy="82296"/>
          </a:xfrm>
          <a:prstGeom prst="rect">
            <a:avLst/>
          </a:prstGeom>
          <a:solidFill>
            <a:srgbClr val="10B5A0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28803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0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~12 mil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663440" y="40690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2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de 4 a 14 anos na conurbação (estimativa) — seu público-alvo.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01584" y="2468880"/>
            <a:ext cx="3456432" cy="3200400"/>
          </a:xfrm>
          <a:prstGeom prst="roundRect">
            <a:avLst>
              <a:gd name="adj" fmla="val 3429"/>
            </a:avLst>
          </a:prstGeom>
          <a:solidFill>
            <a:srgbClr val="1E2766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94192" y="2788920"/>
            <a:ext cx="457200" cy="82296"/>
          </a:xfrm>
          <a:prstGeom prst="rect">
            <a:avLst/>
          </a:prstGeom>
          <a:solidFill>
            <a:srgbClr val="F5B43C"/>
          </a:solidFill>
          <a:ln/>
        </p:spPr>
      </p:sp>
      <p:sp>
        <p:nvSpPr>
          <p:cNvPr id="15" name="Text 13"/>
          <p:cNvSpPr/>
          <p:nvPr/>
        </p:nvSpPr>
        <p:spPr>
          <a:xfrm>
            <a:off x="8375904" y="28803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B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394192" y="40690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2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academias com conceito kids gamificado na região hoje. O campo está livre.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8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Estimativas com base em dados do IBGE (UVA ~56,5 mil hab. em 2025; cidades gêmeas ~87,5 mil no Censo 2022).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0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POTENCIAL DE RECEITA — CENÁRIO ILUSTRATIVO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Capturar uma fração pequena já é um negócio sólido.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E7E4FB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743200"/>
            <a:ext cx="658368" cy="658368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864" y="291437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5204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~12.000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32688" y="44348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de 4 a 14 anos no mercado local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950208" y="35661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A70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4416552" y="246888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FFE7DE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2743200"/>
            <a:ext cx="658368" cy="658368"/>
          </a:xfrm>
          <a:prstGeom prst="ellipse">
            <a:avLst/>
          </a:prstGeom>
          <a:solidFill>
            <a:srgbClr val="FF6A3D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336" y="2914376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90872" y="35204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3%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4709160" y="44348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penetração = ~360 alunos ativos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726680" y="35661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A70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3400" dirty="0"/>
          </a:p>
        </p:txBody>
      </p:sp>
      <p:sp>
        <p:nvSpPr>
          <p:cNvPr id="16" name="Shape 12"/>
          <p:cNvSpPr/>
          <p:nvPr/>
        </p:nvSpPr>
        <p:spPr>
          <a:xfrm>
            <a:off x="8193024" y="2468880"/>
            <a:ext cx="3383280" cy="3017520"/>
          </a:xfrm>
          <a:prstGeom prst="roundRect">
            <a:avLst>
              <a:gd name="adj" fmla="val 3636"/>
            </a:avLst>
          </a:prstGeom>
          <a:solidFill>
            <a:srgbClr val="DCF5F1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85632" y="2743200"/>
            <a:ext cx="658368" cy="658368"/>
          </a:xfrm>
          <a:prstGeom prst="ellipse">
            <a:avLst/>
          </a:prstGeom>
          <a:solidFill>
            <a:srgbClr val="10B5A0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808" y="2914376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67344" y="352044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~R$ 1 mi</a:t>
            </a:r>
            <a:endParaRPr lang="en-US" sz="4000" dirty="0"/>
          </a:p>
        </p:txBody>
      </p:sp>
      <p:sp>
        <p:nvSpPr>
          <p:cNvPr id="20" name="Text 15"/>
          <p:cNvSpPr/>
          <p:nvPr/>
        </p:nvSpPr>
        <p:spPr>
          <a:xfrm>
            <a:off x="8485632" y="44348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receita recorrente por ano*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6A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*Cenário ilustrativo e conservador: ~360 alunos × mensalidade média de R$ 220. Serve para dimensionar o potencial, não é projeção contratual.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0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JANELA DE OPORTUNIDADE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agora — e por que você.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2F4FB"/>
          </a:solidFill>
          <a:ln w="12700">
            <a:solidFill>
              <a:srgbClr val="E6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715768"/>
            <a:ext cx="868680" cy="868680"/>
          </a:xfrm>
          <a:prstGeom prst="ellipse">
            <a:avLst/>
          </a:prstGeom>
          <a:solidFill>
            <a:srgbClr val="FF6A3D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7" y="2941625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5877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Pioneirismo regional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965960" y="304495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o 1º e único com esse conceito cria uma marca que ninguém copia rápido.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233172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2F4FB"/>
          </a:solidFill>
          <a:ln w="12700">
            <a:solidFill>
              <a:srgbClr val="E6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715768"/>
            <a:ext cx="868680" cy="868680"/>
          </a:xfrm>
          <a:prstGeom prst="ellipse">
            <a:avLst/>
          </a:prstGeom>
          <a:solidFill>
            <a:srgbClr val="F5B43C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097" y="2941625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25877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Demanda represada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543800" y="304495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 já querem; falta quem ofereça. A procura existe antes mesmo de abrir.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25196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2F4FB"/>
          </a:solidFill>
          <a:ln w="12700">
            <a:solidFill>
              <a:srgbClr val="E6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636008"/>
            <a:ext cx="868680" cy="868680"/>
          </a:xfrm>
          <a:prstGeom prst="ellipse">
            <a:avLst/>
          </a:prstGeom>
          <a:solidFill>
            <a:srgbClr val="10B5A0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257" y="4861865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65960" y="45079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Barreira de entrada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965960" y="496519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chega primeiro vira referência. O 2º concorrente sempre corre atrás.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17920" y="425196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2F4FB"/>
          </a:solidFill>
          <a:ln w="12700">
            <a:solidFill>
              <a:srgbClr val="E6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636008"/>
            <a:ext cx="868680" cy="868680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097" y="4861865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45079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Marca com propósito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543800" y="496519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A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Combater o sedentarismo infantil é manchete, é boca a boca, é orgulho local.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0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ESSE MODELO É BOM DE NEGÓCIO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vantagens de uma academia kids.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542032"/>
            <a:ext cx="658368" cy="658368"/>
          </a:xfrm>
          <a:prstGeom prst="ellipse">
            <a:avLst/>
          </a:prstGeom>
          <a:solidFill>
            <a:srgbClr val="10B5A0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288" y="2713208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5786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Receita recorrente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327355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Mensalidade previsível, fluxo de caixa estável.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16552" y="22860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72584" y="2542032"/>
            <a:ext cx="658368" cy="658368"/>
          </a:xfrm>
          <a:prstGeom prst="ellipse">
            <a:avLst/>
          </a:prstGeom>
          <a:solidFill>
            <a:srgbClr val="FF6A3D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760" y="2713208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68112" y="25786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Baixa evasão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90872" y="327355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que se diverte volta; pai que vê evolução não cancela.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93024" y="228600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2542032"/>
            <a:ext cx="658368" cy="658368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232" y="2713208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44584" y="25786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Cross-sell com os pais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67344" y="327355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o filho treina, o pai consome e indica.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224528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480560"/>
            <a:ext cx="658368" cy="658368"/>
          </a:xfrm>
          <a:prstGeom prst="ellipse">
            <a:avLst/>
          </a:prstGeom>
          <a:solidFill>
            <a:srgbClr val="F5B43C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288" y="4651736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5171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 orgânico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4400" y="52120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e conquistas viram conteúdo espontâneo nas redes.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16552" y="4224528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72584" y="4480560"/>
            <a:ext cx="658368" cy="658368"/>
          </a:xfrm>
          <a:prstGeom prst="ellipse">
            <a:avLst/>
          </a:prstGeom>
          <a:solidFill>
            <a:srgbClr val="FF6A3D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3760" y="4651736"/>
            <a:ext cx="316017" cy="31601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68112" y="45171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Diferenciação alta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90872" y="52120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difícil de copiar = preço premium justificado.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93024" y="4224528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49056" y="4480560"/>
            <a:ext cx="658368" cy="658368"/>
          </a:xfrm>
          <a:prstGeom prst="ellipse">
            <a:avLst/>
          </a:prstGeom>
          <a:solidFill>
            <a:srgbClr val="10B5A0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0232" y="4651736"/>
            <a:ext cx="316017" cy="31601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44584" y="45171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Propósito + impacto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467344" y="52120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de crianças: gera mídia, parcerias e fidelidade.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0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6C5CE7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A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SEPARA VOCÊ DE UMA ACADEMIA COMUM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Equipamento qualquer um compra. A inteligência digital é o que ninguém copia.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670048" cy="3063240"/>
          </a:xfrm>
          <a:prstGeom prst="roundRect">
            <a:avLst>
              <a:gd name="adj" fmla="val 4110"/>
            </a:avLst>
          </a:prstGeom>
          <a:solidFill>
            <a:srgbClr val="1E2766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578608"/>
            <a:ext cx="731520" cy="731520"/>
          </a:xfrm>
          <a:prstGeom prst="ellipse">
            <a:avLst/>
          </a:prstGeom>
          <a:solidFill>
            <a:srgbClr val="FF6A3D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883" y="2768803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429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dos pais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32688" y="3931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C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Frequência, evolução, fotos e conquistas em tempo real. A arma anti-evasão.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29000" y="2286000"/>
            <a:ext cx="2670048" cy="3063240"/>
          </a:xfrm>
          <a:prstGeom prst="roundRect">
            <a:avLst>
              <a:gd name="adj" fmla="val 4110"/>
            </a:avLst>
          </a:prstGeom>
          <a:solidFill>
            <a:srgbClr val="1E2766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21608" y="2578608"/>
            <a:ext cx="731520" cy="731520"/>
          </a:xfrm>
          <a:prstGeom prst="ellipse">
            <a:avLst/>
          </a:prstGeom>
          <a:solidFill>
            <a:srgbClr val="F5B43C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803" y="2768803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21608" y="3429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Gamificação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721608" y="3931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C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Avatar, missões, níveis e ranking. A criança implora pra voltar.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17920" y="2286000"/>
            <a:ext cx="2670048" cy="3063240"/>
          </a:xfrm>
          <a:prstGeom prst="roundRect">
            <a:avLst>
              <a:gd name="adj" fmla="val 4110"/>
            </a:avLst>
          </a:prstGeom>
          <a:solidFill>
            <a:srgbClr val="1E2766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10528" y="2578608"/>
            <a:ext cx="731520" cy="731520"/>
          </a:xfrm>
          <a:prstGeom prst="ellipse">
            <a:avLst/>
          </a:prstGeom>
          <a:solidFill>
            <a:srgbClr val="10B5A0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723" y="2768803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10528" y="3429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Dados + IA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510528" y="3931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C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evolução motora e alertas automáticos pro professor.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6840" y="2286000"/>
            <a:ext cx="2670048" cy="3063240"/>
          </a:xfrm>
          <a:prstGeom prst="roundRect">
            <a:avLst>
              <a:gd name="adj" fmla="val 4110"/>
            </a:avLst>
          </a:prstGeom>
          <a:solidFill>
            <a:srgbClr val="1E2766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2578608"/>
            <a:ext cx="731520" cy="731520"/>
          </a:xfrm>
          <a:prstGeom prst="ellipse">
            <a:avLst/>
          </a:prstGeom>
          <a:solidFill>
            <a:srgbClr val="6C5CE7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9643" y="2768803"/>
            <a:ext cx="351130" cy="35113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429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Gestão integrada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9299448" y="39319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9C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Matrículas, pagamentos e operação num sistema só, sob medida.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40080" y="5623560"/>
            <a:ext cx="10908792" cy="841248"/>
          </a:xfrm>
          <a:prstGeom prst="roundRect">
            <a:avLst>
              <a:gd name="adj" fmla="val 10870"/>
            </a:avLst>
          </a:prstGeom>
          <a:solidFill>
            <a:srgbClr val="FF6A3D"/>
          </a:solidFill>
          <a:ln/>
        </p:spPr>
      </p:sp>
      <p:sp>
        <p:nvSpPr>
          <p:cNvPr id="26" name="Text 20"/>
          <p:cNvSpPr/>
          <p:nvPr/>
        </p:nvSpPr>
        <p:spPr>
          <a:xfrm>
            <a:off x="914400" y="5623560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isso que a Shift+G constrói: </a:t>
            </a:r>
            <a:pPr indent="0" marL="0">
              <a:buNone/>
            </a:pPr>
            <a:r>
              <a:rPr lang="en-US" sz="1550" dirty="0">
                <a:solidFill>
                  <a:srgbClr val="FF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sob medida + transformação digital, do conceito ao funcionamento.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70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023360"/>
            <a:ext cx="3840480" cy="3840480"/>
          </a:xfrm>
          <a:prstGeom prst="ellipse">
            <a:avLst/>
          </a:prstGeom>
          <a:solidFill>
            <a:srgbClr val="FF6A3D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1645920"/>
            <a:ext cx="3474720" cy="3474720"/>
          </a:xfrm>
          <a:prstGeom prst="ellipse">
            <a:avLst/>
          </a:prstGeom>
          <a:solidFill>
            <a:srgbClr val="10B5A0">
              <a:alpha val="6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B4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PRÓXIMO PASSO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Vamos transformar essa visão num plano.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58368" y="22402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9C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da Shift+G: um diagnóstico rápido + um plano em fases — o que lançar primeiro, com investimento de cada etapa.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3584448" cy="1783080"/>
          </a:xfrm>
          <a:prstGeom prst="roundRect">
            <a:avLst>
              <a:gd name="adj" fmla="val 6154"/>
            </a:avLst>
          </a:prstGeom>
          <a:solidFill>
            <a:srgbClr val="1E2766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3657600"/>
            <a:ext cx="658368" cy="658368"/>
          </a:xfrm>
          <a:prstGeom prst="ellipse">
            <a:avLst/>
          </a:prstGeom>
          <a:solidFill>
            <a:srgbClr val="FF6A3D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576" y="3828776"/>
            <a:ext cx="316017" cy="31601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36758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Diagnóstico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4389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9C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visão, público e espaço.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16552" y="3383280"/>
            <a:ext cx="3584448" cy="1783080"/>
          </a:xfrm>
          <a:prstGeom prst="roundRect">
            <a:avLst>
              <a:gd name="adj" fmla="val 6154"/>
            </a:avLst>
          </a:prstGeom>
          <a:solidFill>
            <a:srgbClr val="1E2766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90872" y="3657600"/>
            <a:ext cx="658368" cy="658368"/>
          </a:xfrm>
          <a:prstGeom prst="ellipse">
            <a:avLst/>
          </a:prstGeom>
          <a:solidFill>
            <a:srgbClr val="10B5A0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048" y="3828776"/>
            <a:ext cx="316017" cy="31601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68112" y="36758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Plano em fases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690872" y="4389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9C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enxuto + roadmap de tecnologia.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193024" y="3383280"/>
            <a:ext cx="3584448" cy="1783080"/>
          </a:xfrm>
          <a:prstGeom prst="roundRect">
            <a:avLst>
              <a:gd name="adj" fmla="val 6154"/>
            </a:avLst>
          </a:prstGeom>
          <a:solidFill>
            <a:srgbClr val="1E2766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467344" y="3657600"/>
            <a:ext cx="658368" cy="658368"/>
          </a:xfrm>
          <a:prstGeom prst="ellipse">
            <a:avLst/>
          </a:prstGeom>
          <a:solidFill>
            <a:srgbClr val="F5B43C"/>
          </a:solidFill>
          <a:ln/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8520" y="3828776"/>
            <a:ext cx="316017" cy="31601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44584" y="36758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Parceria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67344" y="43891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9C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Shift+G executa a inteligência digital do negócio.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85800" y="5715000"/>
            <a:ext cx="10972800" cy="0"/>
          </a:xfrm>
          <a:prstGeom prst="line">
            <a:avLst/>
          </a:prstGeom>
          <a:noFill/>
          <a:ln w="12700">
            <a:solidFill>
              <a:srgbClr val="33406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40080" y="5897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SHIFT+G</a:t>
            </a:r>
            <a:pPr indent="0" marL="0">
              <a:buNone/>
            </a:pPr>
            <a:r>
              <a:rPr lang="en-US" sz="1500" dirty="0">
                <a:solidFill>
                  <a:srgbClr val="9AA2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Tecnologia que faz seu negócio crescer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5760720" y="58978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F5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marcar o diagnóstico ainda esta semana?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Kids — Oportunidade em União da Vitória</dc:title>
  <dc:subject>PptxGenJS Presentation</dc:subject>
  <dc:creator>Shift+G</dc:creator>
  <cp:lastModifiedBy>Shift+G</cp:lastModifiedBy>
  <cp:revision>1</cp:revision>
  <dcterms:created xsi:type="dcterms:W3CDTF">2026-06-19T18:31:52Z</dcterms:created>
  <dcterms:modified xsi:type="dcterms:W3CDTF">2026-06-19T18:31:52Z</dcterms:modified>
</cp:coreProperties>
</file>